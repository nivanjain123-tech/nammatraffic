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0" y="182879"/>
            <a:ext cx="2743200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3"/>
          <p:cNvSpPr txBox="1"/>
          <p:nvPr/>
        </p:nvSpPr>
        <p:spPr>
          <a:xfrm>
            <a:off x="502919" y="2926079"/>
            <a:ext cx="8216862" cy="287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 algn="ctr">
              <a:defRPr b="1" sz="48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NAMMATRAFFIC</a:t>
            </a:r>
          </a:p>
          <a:p>
            <a:pPr algn="ctr">
              <a:defRPr b="1" sz="48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Bengaluru Traffic Incident Intelligence &amp; Command Platform</a:t>
            </a:r>
          </a:p>
          <a:p>
            <a: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defRPr b="1" sz="1600">
                <a:solidFill>
                  <a:srgbClr val="FFB8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8,173 Incidents Analyzed  |  22 Corridors Covered  |  5 Predictive Intelligence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502919" y="274319"/>
            <a:ext cx="8172213" cy="840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IMPACT OF REACTIVE OPERATIONS</a:t>
            </a:r>
          </a:p>
        </p:txBody>
      </p:sp>
      <p:grpSp>
        <p:nvGrpSpPr>
          <p:cNvPr id="102" name="Rounded Rectangle 3"/>
          <p:cNvGrpSpPr/>
          <p:nvPr/>
        </p:nvGrpSpPr>
        <p:grpSpPr>
          <a:xfrm>
            <a:off x="914400" y="1828800"/>
            <a:ext cx="1645921" cy="914400"/>
            <a:chOff x="0" y="0"/>
            <a:chExt cx="1645920" cy="914400"/>
          </a:xfrm>
        </p:grpSpPr>
        <p:sp>
          <p:nvSpPr>
            <p:cNvPr id="100" name="Rounded Rectangle"/>
            <p:cNvSpPr/>
            <p:nvPr/>
          </p:nvSpPr>
          <p:spPr>
            <a:xfrm>
              <a:off x="0" y="0"/>
              <a:ext cx="1645921" cy="9144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9525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1" name="Reactive Dispatch"/>
            <p:cNvSpPr txBox="1"/>
            <p:nvPr/>
          </p:nvSpPr>
          <p:spPr>
            <a:xfrm>
              <a:off x="95119" y="40153"/>
              <a:ext cx="1455682" cy="8340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Reactive Dispatch</a:t>
              </a:r>
            </a:p>
          </p:txBody>
        </p:sp>
      </p:grpSp>
      <p:sp>
        <p:nvSpPr>
          <p:cNvPr id="103" name="Right Arrow 4"/>
          <p:cNvSpPr/>
          <p:nvPr/>
        </p:nvSpPr>
        <p:spPr>
          <a:xfrm>
            <a:off x="2560320" y="2148839"/>
            <a:ext cx="274321" cy="2743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CC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6" name="Rounded Rectangle 5"/>
          <p:cNvGrpSpPr/>
          <p:nvPr/>
        </p:nvGrpSpPr>
        <p:grpSpPr>
          <a:xfrm>
            <a:off x="2834639" y="1828800"/>
            <a:ext cx="1645922" cy="914400"/>
            <a:chOff x="0" y="0"/>
            <a:chExt cx="1645920" cy="914400"/>
          </a:xfrm>
        </p:grpSpPr>
        <p:sp>
          <p:nvSpPr>
            <p:cNvPr id="104" name="Rounded Rectangle"/>
            <p:cNvSpPr/>
            <p:nvPr/>
          </p:nvSpPr>
          <p:spPr>
            <a:xfrm>
              <a:off x="0" y="0"/>
              <a:ext cx="1645921" cy="9144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9525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5" name="Delayed Response"/>
            <p:cNvSpPr txBox="1"/>
            <p:nvPr/>
          </p:nvSpPr>
          <p:spPr>
            <a:xfrm>
              <a:off x="95119" y="40153"/>
              <a:ext cx="1455682" cy="8340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Delayed Response</a:t>
              </a:r>
            </a:p>
          </p:txBody>
        </p:sp>
      </p:grpSp>
      <p:sp>
        <p:nvSpPr>
          <p:cNvPr id="107" name="Right Arrow 6"/>
          <p:cNvSpPr/>
          <p:nvPr/>
        </p:nvSpPr>
        <p:spPr>
          <a:xfrm>
            <a:off x="4480559" y="2148839"/>
            <a:ext cx="274321" cy="2743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CC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10" name="Rounded Rectangle 7"/>
          <p:cNvGrpSpPr/>
          <p:nvPr/>
        </p:nvGrpSpPr>
        <p:grpSpPr>
          <a:xfrm>
            <a:off x="4754879" y="1828800"/>
            <a:ext cx="1645921" cy="914400"/>
            <a:chOff x="0" y="0"/>
            <a:chExt cx="1645920" cy="914400"/>
          </a:xfrm>
        </p:grpSpPr>
        <p:sp>
          <p:nvSpPr>
            <p:cNvPr id="108" name="Rounded Rectangle"/>
            <p:cNvSpPr/>
            <p:nvPr/>
          </p:nvSpPr>
          <p:spPr>
            <a:xfrm>
              <a:off x="0" y="0"/>
              <a:ext cx="1645921" cy="9144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9525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9" name="Congestion Spread"/>
            <p:cNvSpPr txBox="1"/>
            <p:nvPr/>
          </p:nvSpPr>
          <p:spPr>
            <a:xfrm>
              <a:off x="95119" y="40153"/>
              <a:ext cx="1455682" cy="8340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Congestion Spread</a:t>
              </a:r>
            </a:p>
          </p:txBody>
        </p:sp>
      </p:grpSp>
      <p:sp>
        <p:nvSpPr>
          <p:cNvPr id="111" name="Right Arrow 8"/>
          <p:cNvSpPr/>
          <p:nvPr/>
        </p:nvSpPr>
        <p:spPr>
          <a:xfrm>
            <a:off x="6400800" y="2148839"/>
            <a:ext cx="274321" cy="2743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CC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14" name="Rounded Rectangle 9"/>
          <p:cNvGrpSpPr/>
          <p:nvPr/>
        </p:nvGrpSpPr>
        <p:grpSpPr>
          <a:xfrm>
            <a:off x="6675119" y="1828800"/>
            <a:ext cx="1645921" cy="914400"/>
            <a:chOff x="0" y="0"/>
            <a:chExt cx="1645920" cy="914400"/>
          </a:xfrm>
        </p:grpSpPr>
        <p:sp>
          <p:nvSpPr>
            <p:cNvPr id="112" name="Rounded Rectangle"/>
            <p:cNvSpPr/>
            <p:nvPr/>
          </p:nvSpPr>
          <p:spPr>
            <a:xfrm>
              <a:off x="0" y="0"/>
              <a:ext cx="1645921" cy="9144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9525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3" name="Citizen Impact"/>
            <p:cNvSpPr txBox="1"/>
            <p:nvPr/>
          </p:nvSpPr>
          <p:spPr>
            <a:xfrm>
              <a:off x="95119" y="40153"/>
              <a:ext cx="1455682" cy="8340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Citizen Impact</a:t>
              </a:r>
            </a:p>
          </p:txBody>
        </p:sp>
      </p:grpSp>
      <p:sp>
        <p:nvSpPr>
          <p:cNvPr id="115" name="TextBox 10"/>
          <p:cNvSpPr txBox="1"/>
          <p:nvPr/>
        </p:nvSpPr>
        <p:spPr>
          <a:xfrm>
            <a:off x="960119" y="3657600"/>
            <a:ext cx="7438838" cy="729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 algn="ctr">
              <a:defRPr b="1"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8,173 incidents recorded in 150 days in Bengaluru.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2"/>
          <p:cNvSpPr txBox="1"/>
          <p:nvPr/>
        </p:nvSpPr>
        <p:spPr>
          <a:xfrm>
            <a:off x="502919" y="274319"/>
            <a:ext cx="4619984" cy="840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CORE PROBLEMS</a:t>
            </a:r>
          </a:p>
        </p:txBody>
      </p:sp>
      <p:grpSp>
        <p:nvGrpSpPr>
          <p:cNvPr id="121" name="Rounded Rectangle 3"/>
          <p:cNvGrpSpPr/>
          <p:nvPr/>
        </p:nvGrpSpPr>
        <p:grpSpPr>
          <a:xfrm>
            <a:off x="457200" y="1371600"/>
            <a:ext cx="3840480" cy="1371600"/>
            <a:chOff x="0" y="0"/>
            <a:chExt cx="3840479" cy="1371600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384048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0" name="Unquantified Impact…"/>
            <p:cNvSpPr txBox="1"/>
            <p:nvPr/>
          </p:nvSpPr>
          <p:spPr>
            <a:xfrm>
              <a:off x="122201" y="58788"/>
              <a:ext cx="3596078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B8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Unquantified Impact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Event impact is not quantified in advance, causing operational surprises.</a:t>
              </a:r>
            </a:p>
          </p:txBody>
        </p:sp>
      </p:grpSp>
      <p:grpSp>
        <p:nvGrpSpPr>
          <p:cNvPr id="124" name="Rounded Rectangle 4"/>
          <p:cNvGrpSpPr/>
          <p:nvPr/>
        </p:nvGrpSpPr>
        <p:grpSpPr>
          <a:xfrm>
            <a:off x="4846320" y="1371600"/>
            <a:ext cx="3840480" cy="1371600"/>
            <a:chOff x="0" y="0"/>
            <a:chExt cx="3840479" cy="1371600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384048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3" name="Experience-Driven…"/>
            <p:cNvSpPr txBox="1"/>
            <p:nvPr/>
          </p:nvSpPr>
          <p:spPr>
            <a:xfrm>
              <a:off x="122201" y="58788"/>
              <a:ext cx="3596078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B8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Experience-Driven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Resource deployment relies heavily on individual experience, not data.</a:t>
              </a:r>
            </a:p>
          </p:txBody>
        </p:sp>
      </p:grpSp>
      <p:grpSp>
        <p:nvGrpSpPr>
          <p:cNvPr id="127" name="Rounded Rectangle 5"/>
          <p:cNvGrpSpPr/>
          <p:nvPr/>
        </p:nvGrpSpPr>
        <p:grpSpPr>
          <a:xfrm>
            <a:off x="457200" y="3200400"/>
            <a:ext cx="3840480" cy="1371600"/>
            <a:chOff x="0" y="0"/>
            <a:chExt cx="3840479" cy="1371600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384048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6" name="No Post-Event Learning…"/>
            <p:cNvSpPr txBox="1"/>
            <p:nvPr/>
          </p:nvSpPr>
          <p:spPr>
            <a:xfrm>
              <a:off x="122201" y="58788"/>
              <a:ext cx="3596078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B8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No Post-Event Learning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Every incident is forgotten. No institutional memory or continuous learning.</a:t>
              </a:r>
            </a:p>
          </p:txBody>
        </p:sp>
      </p:grpSp>
      <p:grpSp>
        <p:nvGrpSpPr>
          <p:cNvPr id="130" name="Rounded Rectangle 6"/>
          <p:cNvGrpSpPr/>
          <p:nvPr/>
        </p:nvGrpSpPr>
        <p:grpSpPr>
          <a:xfrm>
            <a:off x="4846320" y="3200400"/>
            <a:ext cx="3840480" cy="1371600"/>
            <a:chOff x="0" y="0"/>
            <a:chExt cx="3840479" cy="1371600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384048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Fragmented Decisions…"/>
            <p:cNvSpPr txBox="1"/>
            <p:nvPr/>
          </p:nvSpPr>
          <p:spPr>
            <a:xfrm>
              <a:off x="122201" y="58788"/>
              <a:ext cx="3596078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B8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Fragmented Decisions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Lack of a unified, intelligent decision-support platform for authorities.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2"/>
          <p:cNvSpPr txBox="1"/>
          <p:nvPr/>
        </p:nvSpPr>
        <p:spPr>
          <a:xfrm>
            <a:off x="502919" y="274319"/>
            <a:ext cx="8389304" cy="840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SOLUTION: AI COMMAND PLATFORM</a:t>
            </a:r>
          </a:p>
        </p:txBody>
      </p:sp>
      <p:grpSp>
        <p:nvGrpSpPr>
          <p:cNvPr id="136" name="Rectangle 3"/>
          <p:cNvGrpSpPr/>
          <p:nvPr/>
        </p:nvGrpSpPr>
        <p:grpSpPr>
          <a:xfrm>
            <a:off x="457199" y="1371599"/>
            <a:ext cx="1463042" cy="731522"/>
            <a:chOff x="0" y="0"/>
            <a:chExt cx="1463040" cy="731520"/>
          </a:xfrm>
        </p:grpSpPr>
        <p:sp>
          <p:nvSpPr>
            <p:cNvPr id="134" name="Rectangle"/>
            <p:cNvSpPr/>
            <p:nvPr/>
          </p:nvSpPr>
          <p:spPr>
            <a:xfrm>
              <a:off x="-1" y="-1"/>
              <a:ext cx="1463042" cy="731522"/>
            </a:xfrm>
            <a:prstGeom prst="rect">
              <a:avLst/>
            </a:prstGeom>
            <a:solidFill>
              <a:srgbClr val="00CCFF"/>
            </a:soli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5" name="Incident Data"/>
            <p:cNvSpPr txBox="1"/>
            <p:nvPr/>
          </p:nvSpPr>
          <p:spPr>
            <a:xfrm>
              <a:off x="50482" y="75298"/>
              <a:ext cx="1362076" cy="580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400">
                  <a:solidFill>
                    <a:srgbClr val="0A0F24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Incident Data</a:t>
              </a:r>
            </a:p>
          </p:txBody>
        </p:sp>
      </p:grpSp>
      <p:sp>
        <p:nvSpPr>
          <p:cNvPr id="137" name="Right Arrow 4"/>
          <p:cNvSpPr/>
          <p:nvPr/>
        </p:nvSpPr>
        <p:spPr>
          <a:xfrm>
            <a:off x="1920239" y="1600200"/>
            <a:ext cx="274321" cy="2743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40" name="Rectangle 5"/>
          <p:cNvGrpSpPr/>
          <p:nvPr/>
        </p:nvGrpSpPr>
        <p:grpSpPr>
          <a:xfrm>
            <a:off x="2194560" y="1371599"/>
            <a:ext cx="1463041" cy="731522"/>
            <a:chOff x="0" y="0"/>
            <a:chExt cx="1463040" cy="731520"/>
          </a:xfrm>
        </p:grpSpPr>
        <p:sp>
          <p:nvSpPr>
            <p:cNvPr id="138" name="Rectangle"/>
            <p:cNvSpPr/>
            <p:nvPr/>
          </p:nvSpPr>
          <p:spPr>
            <a:xfrm>
              <a:off x="-1" y="-1"/>
              <a:ext cx="1463042" cy="731522"/>
            </a:xfrm>
            <a:prstGeom prst="rect">
              <a:avLst/>
            </a:prstGeom>
            <a:solidFill>
              <a:srgbClr val="00CCFF"/>
            </a:soli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9" name="ML Engine"/>
            <p:cNvSpPr txBox="1"/>
            <p:nvPr/>
          </p:nvSpPr>
          <p:spPr>
            <a:xfrm>
              <a:off x="50482" y="75298"/>
              <a:ext cx="1362076" cy="580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400">
                  <a:solidFill>
                    <a:srgbClr val="0A0F24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ML Engine</a:t>
              </a:r>
            </a:p>
          </p:txBody>
        </p:sp>
      </p:grpSp>
      <p:sp>
        <p:nvSpPr>
          <p:cNvPr id="141" name="Right Arrow 6"/>
          <p:cNvSpPr/>
          <p:nvPr/>
        </p:nvSpPr>
        <p:spPr>
          <a:xfrm>
            <a:off x="3657600" y="1600200"/>
            <a:ext cx="274321" cy="2743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44" name="Rectangle 7"/>
          <p:cNvGrpSpPr/>
          <p:nvPr/>
        </p:nvGrpSpPr>
        <p:grpSpPr>
          <a:xfrm>
            <a:off x="3931920" y="1345298"/>
            <a:ext cx="1463041" cy="784124"/>
            <a:chOff x="0" y="0"/>
            <a:chExt cx="1463040" cy="784123"/>
          </a:xfrm>
        </p:grpSpPr>
        <p:sp>
          <p:nvSpPr>
            <p:cNvPr id="142" name="Rectangle"/>
            <p:cNvSpPr/>
            <p:nvPr/>
          </p:nvSpPr>
          <p:spPr>
            <a:xfrm>
              <a:off x="0" y="26301"/>
              <a:ext cx="1463041" cy="731521"/>
            </a:xfrm>
            <a:prstGeom prst="rect">
              <a:avLst/>
            </a:prstGeom>
            <a:solidFill>
              <a:srgbClr val="00CCFF"/>
            </a:soli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3" name="GIS Intelligence"/>
            <p:cNvSpPr txBox="1"/>
            <p:nvPr/>
          </p:nvSpPr>
          <p:spPr>
            <a:xfrm>
              <a:off x="50482" y="-1"/>
              <a:ext cx="1362076" cy="7841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400">
                  <a:solidFill>
                    <a:srgbClr val="0A0F24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GIS Intelligence</a:t>
              </a:r>
            </a:p>
          </p:txBody>
        </p:sp>
      </p:grpSp>
      <p:sp>
        <p:nvSpPr>
          <p:cNvPr id="145" name="Right Arrow 8"/>
          <p:cNvSpPr/>
          <p:nvPr/>
        </p:nvSpPr>
        <p:spPr>
          <a:xfrm>
            <a:off x="5394959" y="1600200"/>
            <a:ext cx="274321" cy="2743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48" name="Rectangle 9"/>
          <p:cNvGrpSpPr/>
          <p:nvPr/>
        </p:nvGrpSpPr>
        <p:grpSpPr>
          <a:xfrm>
            <a:off x="5669279" y="1371599"/>
            <a:ext cx="1463041" cy="731522"/>
            <a:chOff x="0" y="0"/>
            <a:chExt cx="1463040" cy="731520"/>
          </a:xfrm>
        </p:grpSpPr>
        <p:sp>
          <p:nvSpPr>
            <p:cNvPr id="146" name="Rectangle"/>
            <p:cNvSpPr/>
            <p:nvPr/>
          </p:nvSpPr>
          <p:spPr>
            <a:xfrm>
              <a:off x="-1" y="-1"/>
              <a:ext cx="1463042" cy="731522"/>
            </a:xfrm>
            <a:prstGeom prst="rect">
              <a:avLst/>
            </a:prstGeom>
            <a:solidFill>
              <a:srgbClr val="00CCFF"/>
            </a:soli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AI Copilot"/>
            <p:cNvSpPr txBox="1"/>
            <p:nvPr/>
          </p:nvSpPr>
          <p:spPr>
            <a:xfrm>
              <a:off x="50482" y="75298"/>
              <a:ext cx="1362076" cy="580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400">
                  <a:solidFill>
                    <a:srgbClr val="0A0F24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AI Copilot</a:t>
              </a:r>
            </a:p>
          </p:txBody>
        </p:sp>
      </p:grpSp>
      <p:sp>
        <p:nvSpPr>
          <p:cNvPr id="149" name="Right Arrow 10"/>
          <p:cNvSpPr/>
          <p:nvPr/>
        </p:nvSpPr>
        <p:spPr>
          <a:xfrm>
            <a:off x="7132318" y="1600200"/>
            <a:ext cx="274321" cy="27432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52" name="Rectangle 11"/>
          <p:cNvGrpSpPr/>
          <p:nvPr/>
        </p:nvGrpSpPr>
        <p:grpSpPr>
          <a:xfrm>
            <a:off x="7406640" y="1345298"/>
            <a:ext cx="1463041" cy="784124"/>
            <a:chOff x="0" y="0"/>
            <a:chExt cx="1463040" cy="784123"/>
          </a:xfrm>
        </p:grpSpPr>
        <p:sp>
          <p:nvSpPr>
            <p:cNvPr id="150" name="Rectangle"/>
            <p:cNvSpPr/>
            <p:nvPr/>
          </p:nvSpPr>
          <p:spPr>
            <a:xfrm>
              <a:off x="0" y="26301"/>
              <a:ext cx="1463041" cy="731521"/>
            </a:xfrm>
            <a:prstGeom prst="rect">
              <a:avLst/>
            </a:prstGeom>
            <a:solidFill>
              <a:srgbClr val="00CCFF"/>
            </a:soli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1" name="Command Center"/>
            <p:cNvSpPr txBox="1"/>
            <p:nvPr/>
          </p:nvSpPr>
          <p:spPr>
            <a:xfrm>
              <a:off x="50482" y="-1"/>
              <a:ext cx="1362076" cy="7841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 algn="ctr">
                <a:defRPr b="1" sz="1400">
                  <a:solidFill>
                    <a:srgbClr val="0A0F24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Command Center</a:t>
              </a:r>
            </a:p>
          </p:txBody>
        </p:sp>
      </p:grpSp>
      <p:grpSp>
        <p:nvGrpSpPr>
          <p:cNvPr id="155" name="Rounded Rectangle 12"/>
          <p:cNvGrpSpPr/>
          <p:nvPr/>
        </p:nvGrpSpPr>
        <p:grpSpPr>
          <a:xfrm>
            <a:off x="457200" y="2743200"/>
            <a:ext cx="1828800" cy="1828800"/>
            <a:chOff x="0" y="0"/>
            <a:chExt cx="1828800" cy="1828800"/>
          </a:xfrm>
        </p:grpSpPr>
        <p:sp>
          <p:nvSpPr>
            <p:cNvPr id="153" name="Rounded Rectangle"/>
            <p:cNvSpPr/>
            <p:nvPr/>
          </p:nvSpPr>
          <p:spPr>
            <a:xfrm>
              <a:off x="0" y="0"/>
              <a:ext cx="1828800" cy="18288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4" name="PREDICT…"/>
            <p:cNvSpPr txBox="1"/>
            <p:nvPr/>
          </p:nvSpPr>
          <p:spPr>
            <a:xfrm>
              <a:off x="144519" y="185788"/>
              <a:ext cx="1539762" cy="14572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PREDICT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Forecast incident resolution time and severity.</a:t>
              </a:r>
            </a:p>
          </p:txBody>
        </p:sp>
      </p:grpSp>
      <p:grpSp>
        <p:nvGrpSpPr>
          <p:cNvPr id="158" name="Rounded Rectangle 13"/>
          <p:cNvGrpSpPr/>
          <p:nvPr/>
        </p:nvGrpSpPr>
        <p:grpSpPr>
          <a:xfrm>
            <a:off x="2560320" y="2694038"/>
            <a:ext cx="1828801" cy="1927124"/>
            <a:chOff x="0" y="0"/>
            <a:chExt cx="1828800" cy="1927123"/>
          </a:xfrm>
        </p:grpSpPr>
        <p:sp>
          <p:nvSpPr>
            <p:cNvPr id="156" name="Rounded Rectangle"/>
            <p:cNvSpPr/>
            <p:nvPr/>
          </p:nvSpPr>
          <p:spPr>
            <a:xfrm>
              <a:off x="0" y="49161"/>
              <a:ext cx="1828800" cy="1828801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7" name="RECOMMEND…"/>
            <p:cNvSpPr txBox="1"/>
            <p:nvPr/>
          </p:nvSpPr>
          <p:spPr>
            <a:xfrm>
              <a:off x="144519" y="0"/>
              <a:ext cx="1539762" cy="19271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RECOMMEND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Suggest exact manpower, cranes, and diversions.</a:t>
              </a:r>
            </a:p>
          </p:txBody>
        </p:sp>
      </p:grpSp>
      <p:grpSp>
        <p:nvGrpSpPr>
          <p:cNvPr id="161" name="Rounded Rectangle 14"/>
          <p:cNvGrpSpPr/>
          <p:nvPr/>
        </p:nvGrpSpPr>
        <p:grpSpPr>
          <a:xfrm>
            <a:off x="4663440" y="2743200"/>
            <a:ext cx="1828801" cy="1828800"/>
            <a:chOff x="0" y="0"/>
            <a:chExt cx="1828800" cy="1828800"/>
          </a:xfrm>
        </p:grpSpPr>
        <p:sp>
          <p:nvSpPr>
            <p:cNvPr id="159" name="Rounded Rectangle"/>
            <p:cNvSpPr/>
            <p:nvPr/>
          </p:nvSpPr>
          <p:spPr>
            <a:xfrm>
              <a:off x="0" y="0"/>
              <a:ext cx="1828800" cy="18288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0" name="VISUALIZE…"/>
            <p:cNvSpPr txBox="1"/>
            <p:nvPr/>
          </p:nvSpPr>
          <p:spPr>
            <a:xfrm>
              <a:off x="144519" y="185788"/>
              <a:ext cx="1539762" cy="14572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VISUALIZE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Live GIS mapping of next-hour hotspots.</a:t>
              </a:r>
            </a:p>
          </p:txBody>
        </p:sp>
      </p:grpSp>
      <p:grpSp>
        <p:nvGrpSpPr>
          <p:cNvPr id="164" name="Rounded Rectangle 15"/>
          <p:cNvGrpSpPr/>
          <p:nvPr/>
        </p:nvGrpSpPr>
        <p:grpSpPr>
          <a:xfrm>
            <a:off x="6766559" y="2743200"/>
            <a:ext cx="1828801" cy="1828800"/>
            <a:chOff x="0" y="0"/>
            <a:chExt cx="1828800" cy="1828800"/>
          </a:xfrm>
        </p:grpSpPr>
        <p:sp>
          <p:nvSpPr>
            <p:cNvPr id="162" name="Rounded Rectangle"/>
            <p:cNvSpPr/>
            <p:nvPr/>
          </p:nvSpPr>
          <p:spPr>
            <a:xfrm>
              <a:off x="0" y="0"/>
              <a:ext cx="1828800" cy="18288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3" name="LEARN…"/>
            <p:cNvSpPr txBox="1"/>
            <p:nvPr/>
          </p:nvSpPr>
          <p:spPr>
            <a:xfrm>
              <a:off x="144519" y="84188"/>
              <a:ext cx="1539762" cy="16604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LEARN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AI Copilot querying historical incident intelligence.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"/>
          <p:cNvSpPr txBox="1"/>
          <p:nvPr/>
        </p:nvSpPr>
        <p:spPr>
          <a:xfrm>
            <a:off x="502919" y="274319"/>
            <a:ext cx="5236529" cy="840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PLATFORM CAPABILITIES</a:t>
            </a:r>
          </a:p>
        </p:txBody>
      </p:sp>
      <p:grpSp>
        <p:nvGrpSpPr>
          <p:cNvPr id="170" name="Rounded Rectangle 3"/>
          <p:cNvGrpSpPr/>
          <p:nvPr/>
        </p:nvGrpSpPr>
        <p:grpSpPr>
          <a:xfrm>
            <a:off x="457200" y="1371600"/>
            <a:ext cx="1920240" cy="1371600"/>
            <a:chOff x="0" y="0"/>
            <a:chExt cx="1920239" cy="1371600"/>
          </a:xfrm>
        </p:grpSpPr>
        <p:sp>
          <p:nvSpPr>
            <p:cNvPr id="168" name="Rounded Rectangle"/>
            <p:cNvSpPr/>
            <p:nvPr/>
          </p:nvSpPr>
          <p:spPr>
            <a:xfrm>
              <a:off x="0" y="0"/>
              <a:ext cx="192024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9" name="Module 1…"/>
            <p:cNvSpPr txBox="1"/>
            <p:nvPr/>
          </p:nvSpPr>
          <p:spPr>
            <a:xfrm>
              <a:off x="122201" y="58788"/>
              <a:ext cx="1675839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Module 1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Incident Intelligence Engine</a:t>
              </a:r>
            </a:p>
          </p:txBody>
        </p:sp>
      </p:grpSp>
      <p:grpSp>
        <p:nvGrpSpPr>
          <p:cNvPr id="173" name="Rounded Rectangle 4"/>
          <p:cNvGrpSpPr/>
          <p:nvPr/>
        </p:nvGrpSpPr>
        <p:grpSpPr>
          <a:xfrm>
            <a:off x="2560320" y="1371600"/>
            <a:ext cx="1920241" cy="1371600"/>
            <a:chOff x="0" y="0"/>
            <a:chExt cx="1920239" cy="1371600"/>
          </a:xfrm>
        </p:grpSpPr>
        <p:sp>
          <p:nvSpPr>
            <p:cNvPr id="171" name="Rounded Rectangle"/>
            <p:cNvSpPr/>
            <p:nvPr/>
          </p:nvSpPr>
          <p:spPr>
            <a:xfrm>
              <a:off x="0" y="0"/>
              <a:ext cx="192024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Module 2…"/>
            <p:cNvSpPr txBox="1"/>
            <p:nvPr/>
          </p:nvSpPr>
          <p:spPr>
            <a:xfrm>
              <a:off x="122201" y="58788"/>
              <a:ext cx="1675839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Module 2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Congestion Forecasting</a:t>
              </a:r>
            </a:p>
          </p:txBody>
        </p:sp>
      </p:grpSp>
      <p:grpSp>
        <p:nvGrpSpPr>
          <p:cNvPr id="176" name="Rounded Rectangle 5"/>
          <p:cNvGrpSpPr/>
          <p:nvPr/>
        </p:nvGrpSpPr>
        <p:grpSpPr>
          <a:xfrm>
            <a:off x="4663440" y="1371600"/>
            <a:ext cx="1920241" cy="1371600"/>
            <a:chOff x="0" y="0"/>
            <a:chExt cx="1920239" cy="1371600"/>
          </a:xfrm>
        </p:grpSpPr>
        <p:sp>
          <p:nvSpPr>
            <p:cNvPr id="174" name="Rounded Rectangle"/>
            <p:cNvSpPr/>
            <p:nvPr/>
          </p:nvSpPr>
          <p:spPr>
            <a:xfrm>
              <a:off x="0" y="0"/>
              <a:ext cx="192024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5" name="Module 3…"/>
            <p:cNvSpPr txBox="1"/>
            <p:nvPr/>
          </p:nvSpPr>
          <p:spPr>
            <a:xfrm>
              <a:off x="122201" y="58788"/>
              <a:ext cx="1675839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Module 3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Resource Recommender</a:t>
              </a:r>
            </a:p>
          </p:txBody>
        </p:sp>
      </p:grpSp>
      <p:grpSp>
        <p:nvGrpSpPr>
          <p:cNvPr id="179" name="Rounded Rectangle 6"/>
          <p:cNvGrpSpPr/>
          <p:nvPr/>
        </p:nvGrpSpPr>
        <p:grpSpPr>
          <a:xfrm>
            <a:off x="6766559" y="1371600"/>
            <a:ext cx="1920241" cy="1371600"/>
            <a:chOff x="0" y="0"/>
            <a:chExt cx="1920239" cy="1371600"/>
          </a:xfrm>
        </p:grpSpPr>
        <p:sp>
          <p:nvSpPr>
            <p:cNvPr id="177" name="Rounded Rectangle"/>
            <p:cNvSpPr/>
            <p:nvPr/>
          </p:nvSpPr>
          <p:spPr>
            <a:xfrm>
              <a:off x="0" y="0"/>
              <a:ext cx="192024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8" name="Module 4…"/>
            <p:cNvSpPr txBox="1"/>
            <p:nvPr/>
          </p:nvSpPr>
          <p:spPr>
            <a:xfrm>
              <a:off x="122201" y="160388"/>
              <a:ext cx="1675839" cy="1050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Module 4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Diversion Engine</a:t>
              </a:r>
            </a:p>
          </p:txBody>
        </p:sp>
      </p:grpSp>
      <p:grpSp>
        <p:nvGrpSpPr>
          <p:cNvPr id="182" name="Rounded Rectangle 7"/>
          <p:cNvGrpSpPr/>
          <p:nvPr/>
        </p:nvGrpSpPr>
        <p:grpSpPr>
          <a:xfrm>
            <a:off x="457200" y="3017520"/>
            <a:ext cx="1920240" cy="1371601"/>
            <a:chOff x="0" y="0"/>
            <a:chExt cx="1920239" cy="1371600"/>
          </a:xfrm>
        </p:grpSpPr>
        <p:sp>
          <p:nvSpPr>
            <p:cNvPr id="180" name="Rounded Rectangle"/>
            <p:cNvSpPr/>
            <p:nvPr/>
          </p:nvSpPr>
          <p:spPr>
            <a:xfrm>
              <a:off x="0" y="0"/>
              <a:ext cx="192024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1" name="Module 5…"/>
            <p:cNvSpPr txBox="1"/>
            <p:nvPr/>
          </p:nvSpPr>
          <p:spPr>
            <a:xfrm>
              <a:off x="122201" y="58788"/>
              <a:ext cx="1675839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Module 5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Similar Incident Search</a:t>
              </a:r>
            </a:p>
          </p:txBody>
        </p:sp>
      </p:grpSp>
      <p:grpSp>
        <p:nvGrpSpPr>
          <p:cNvPr id="185" name="Rounded Rectangle 8"/>
          <p:cNvGrpSpPr/>
          <p:nvPr/>
        </p:nvGrpSpPr>
        <p:grpSpPr>
          <a:xfrm>
            <a:off x="2560320" y="3017520"/>
            <a:ext cx="1920241" cy="1371601"/>
            <a:chOff x="0" y="0"/>
            <a:chExt cx="1920239" cy="1371600"/>
          </a:xfrm>
        </p:grpSpPr>
        <p:sp>
          <p:nvSpPr>
            <p:cNvPr id="183" name="Rounded Rectangle"/>
            <p:cNvSpPr/>
            <p:nvPr/>
          </p:nvSpPr>
          <p:spPr>
            <a:xfrm>
              <a:off x="0" y="0"/>
              <a:ext cx="192024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4" name="Module 6…"/>
            <p:cNvSpPr txBox="1"/>
            <p:nvPr/>
          </p:nvSpPr>
          <p:spPr>
            <a:xfrm>
              <a:off x="122201" y="58788"/>
              <a:ext cx="1675839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Module 6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GIS Hotspot / Risk Map</a:t>
              </a:r>
            </a:p>
          </p:txBody>
        </p:sp>
      </p:grpSp>
      <p:grpSp>
        <p:nvGrpSpPr>
          <p:cNvPr id="188" name="Rounded Rectangle 9"/>
          <p:cNvGrpSpPr/>
          <p:nvPr/>
        </p:nvGrpSpPr>
        <p:grpSpPr>
          <a:xfrm>
            <a:off x="4663440" y="3017520"/>
            <a:ext cx="1920241" cy="1371601"/>
            <a:chOff x="0" y="0"/>
            <a:chExt cx="1920239" cy="1371600"/>
          </a:xfrm>
        </p:grpSpPr>
        <p:sp>
          <p:nvSpPr>
            <p:cNvPr id="186" name="Rounded Rectangle"/>
            <p:cNvSpPr/>
            <p:nvPr/>
          </p:nvSpPr>
          <p:spPr>
            <a:xfrm>
              <a:off x="0" y="0"/>
              <a:ext cx="192024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Module 7…"/>
            <p:cNvSpPr txBox="1"/>
            <p:nvPr/>
          </p:nvSpPr>
          <p:spPr>
            <a:xfrm>
              <a:off x="122201" y="160388"/>
              <a:ext cx="1675839" cy="1050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Module 7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AI Traffic Copilot</a:t>
              </a:r>
            </a:p>
          </p:txBody>
        </p:sp>
      </p:grpSp>
      <p:grpSp>
        <p:nvGrpSpPr>
          <p:cNvPr id="191" name="Rounded Rectangle 10"/>
          <p:cNvGrpSpPr/>
          <p:nvPr/>
        </p:nvGrpSpPr>
        <p:grpSpPr>
          <a:xfrm>
            <a:off x="6766559" y="3017520"/>
            <a:ext cx="1920241" cy="1371601"/>
            <a:chOff x="0" y="0"/>
            <a:chExt cx="1920239" cy="1371600"/>
          </a:xfrm>
        </p:grpSpPr>
        <p:sp>
          <p:nvSpPr>
            <p:cNvPr id="189" name="Rounded Rectangle"/>
            <p:cNvSpPr/>
            <p:nvPr/>
          </p:nvSpPr>
          <p:spPr>
            <a:xfrm>
              <a:off x="0" y="0"/>
              <a:ext cx="1920240" cy="13716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0" name="Module 8…"/>
            <p:cNvSpPr txBox="1"/>
            <p:nvPr/>
          </p:nvSpPr>
          <p:spPr>
            <a:xfrm>
              <a:off x="122201" y="58788"/>
              <a:ext cx="1675839" cy="1254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Module 8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Post-Event Learning Engine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2"/>
          <p:cNvSpPr txBox="1"/>
          <p:nvPr/>
        </p:nvSpPr>
        <p:spPr>
          <a:xfrm>
            <a:off x="502919" y="274319"/>
            <a:ext cx="7208204" cy="840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 &amp; INTELLIGENCE MODELLING</a:t>
            </a:r>
          </a:p>
        </p:txBody>
      </p:sp>
      <p:sp>
        <p:nvSpPr>
          <p:cNvPr id="195" name="TextBox 3"/>
          <p:cNvSpPr txBox="1"/>
          <p:nvPr/>
        </p:nvSpPr>
        <p:spPr>
          <a:xfrm>
            <a:off x="502919" y="1097280"/>
            <a:ext cx="6235711" cy="729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2400">
                <a:solidFill>
                  <a:srgbClr val="00FFA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Trained on 8,173 Real Bengaluru Incidents</a:t>
            </a:r>
          </a:p>
        </p:txBody>
      </p:sp>
      <p:grpSp>
        <p:nvGrpSpPr>
          <p:cNvPr id="198" name="Rounded Rectangle 4"/>
          <p:cNvGrpSpPr/>
          <p:nvPr/>
        </p:nvGrpSpPr>
        <p:grpSpPr>
          <a:xfrm>
            <a:off x="457200" y="2011679"/>
            <a:ext cx="2560321" cy="2286001"/>
            <a:chOff x="0" y="0"/>
            <a:chExt cx="2560320" cy="2286000"/>
          </a:xfrm>
        </p:grpSpPr>
        <p:sp>
          <p:nvSpPr>
            <p:cNvPr id="196" name="Rounded Rectangle"/>
            <p:cNvSpPr/>
            <p:nvPr/>
          </p:nvSpPr>
          <p:spPr>
            <a:xfrm>
              <a:off x="0" y="0"/>
              <a:ext cx="2560321" cy="22860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7" name="Severity Prediction…"/>
            <p:cNvSpPr txBox="1"/>
            <p:nvPr/>
          </p:nvSpPr>
          <p:spPr>
            <a:xfrm>
              <a:off x="166837" y="211188"/>
              <a:ext cx="2226646" cy="1863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Severity Prediction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F1 Score: 0.88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Classifies High, Medium, Low impact instantly.</a:t>
              </a:r>
            </a:p>
          </p:txBody>
        </p:sp>
      </p:grpSp>
      <p:grpSp>
        <p:nvGrpSpPr>
          <p:cNvPr id="201" name="Rounded Rectangle 5"/>
          <p:cNvGrpSpPr/>
          <p:nvPr/>
        </p:nvGrpSpPr>
        <p:grpSpPr>
          <a:xfrm>
            <a:off x="3291840" y="2011679"/>
            <a:ext cx="2560321" cy="2286001"/>
            <a:chOff x="0" y="0"/>
            <a:chExt cx="2560320" cy="2286000"/>
          </a:xfrm>
        </p:grpSpPr>
        <p:sp>
          <p:nvSpPr>
            <p:cNvPr id="199" name="Rounded Rectangle"/>
            <p:cNvSpPr/>
            <p:nvPr/>
          </p:nvSpPr>
          <p:spPr>
            <a:xfrm>
              <a:off x="0" y="0"/>
              <a:ext cx="2560321" cy="22860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0" name="Road Closure…"/>
            <p:cNvSpPr txBox="1"/>
            <p:nvPr/>
          </p:nvSpPr>
          <p:spPr>
            <a:xfrm>
              <a:off x="166837" y="211188"/>
              <a:ext cx="2226646" cy="1863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Road Closure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AUC: 0.91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Probability of complete corridor blockage.</a:t>
              </a:r>
            </a:p>
          </p:txBody>
        </p:sp>
      </p:grpSp>
      <p:grpSp>
        <p:nvGrpSpPr>
          <p:cNvPr id="204" name="Rounded Rectangle 6"/>
          <p:cNvGrpSpPr/>
          <p:nvPr/>
        </p:nvGrpSpPr>
        <p:grpSpPr>
          <a:xfrm>
            <a:off x="6126479" y="2011679"/>
            <a:ext cx="2560321" cy="2286001"/>
            <a:chOff x="0" y="0"/>
            <a:chExt cx="2560320" cy="2286000"/>
          </a:xfrm>
        </p:grpSpPr>
        <p:sp>
          <p:nvSpPr>
            <p:cNvPr id="202" name="Rounded Rectangle"/>
            <p:cNvSpPr/>
            <p:nvPr/>
          </p:nvSpPr>
          <p:spPr>
            <a:xfrm>
              <a:off x="0" y="0"/>
              <a:ext cx="2560321" cy="22860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00CC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3" name="Resolution Time…"/>
            <p:cNvSpPr txBox="1"/>
            <p:nvPr/>
          </p:nvSpPr>
          <p:spPr>
            <a:xfrm>
              <a:off x="166837" y="211188"/>
              <a:ext cx="2226646" cy="1863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Resolution Time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MAE: ~2.2 Hours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CatBoost Regressor optimizing timeline.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2"/>
          <p:cNvSpPr txBox="1"/>
          <p:nvPr/>
        </p:nvSpPr>
        <p:spPr>
          <a:xfrm>
            <a:off x="502919" y="274319"/>
            <a:ext cx="6772435" cy="840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PREDICTIVE OUTPUTS IN ACTION</a:t>
            </a:r>
          </a:p>
        </p:txBody>
      </p:sp>
      <p:grpSp>
        <p:nvGrpSpPr>
          <p:cNvPr id="210" name="Rounded Rectangle 3"/>
          <p:cNvGrpSpPr/>
          <p:nvPr/>
        </p:nvGrpSpPr>
        <p:grpSpPr>
          <a:xfrm>
            <a:off x="457200" y="1371600"/>
            <a:ext cx="3840480" cy="3200400"/>
            <a:chOff x="0" y="0"/>
            <a:chExt cx="3840479" cy="3200400"/>
          </a:xfrm>
        </p:grpSpPr>
        <p:sp>
          <p:nvSpPr>
            <p:cNvPr id="208" name="Rounded Rectangle"/>
            <p:cNvSpPr/>
            <p:nvPr/>
          </p:nvSpPr>
          <p:spPr>
            <a:xfrm>
              <a:off x="0" y="0"/>
              <a:ext cx="3840480" cy="32004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9" name="Input: Live Event…"/>
            <p:cNvSpPr txBox="1"/>
            <p:nvPr/>
          </p:nvSpPr>
          <p:spPr>
            <a:xfrm>
              <a:off x="211475" y="668388"/>
              <a:ext cx="3417529" cy="18636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Input: Live Event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Event: Vehicle Breakdown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Location: Bellary Road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Time: 18:00 (Peak Hour)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Weather: Clear</a:t>
              </a:r>
            </a:p>
          </p:txBody>
        </p:sp>
      </p:grpSp>
      <p:grpSp>
        <p:nvGrpSpPr>
          <p:cNvPr id="213" name="Rounded Rectangle 4"/>
          <p:cNvGrpSpPr/>
          <p:nvPr/>
        </p:nvGrpSpPr>
        <p:grpSpPr>
          <a:xfrm>
            <a:off x="4846320" y="1371600"/>
            <a:ext cx="3840480" cy="3200400"/>
            <a:chOff x="0" y="0"/>
            <a:chExt cx="3840479" cy="3200400"/>
          </a:xfrm>
        </p:grpSpPr>
        <p:sp>
          <p:nvSpPr>
            <p:cNvPr id="211" name="Rounded Rectangle"/>
            <p:cNvSpPr/>
            <p:nvPr/>
          </p:nvSpPr>
          <p:spPr>
            <a:xfrm>
              <a:off x="0" y="0"/>
              <a:ext cx="3840480" cy="3200400"/>
            </a:xfrm>
            <a:prstGeom prst="roundRect">
              <a:avLst>
                <a:gd name="adj" fmla="val 16667"/>
              </a:avLst>
            </a:prstGeom>
            <a:solidFill>
              <a:srgbClr val="141C3A"/>
            </a:solidFill>
            <a:ln w="19050" cap="flat">
              <a:solidFill>
                <a:srgbClr val="FFB80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2" name="Output: AI Command…"/>
            <p:cNvSpPr txBox="1"/>
            <p:nvPr/>
          </p:nvSpPr>
          <p:spPr>
            <a:xfrm>
              <a:off x="211475" y="363588"/>
              <a:ext cx="3417529" cy="24732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  <a:p>
              <a:pPr>
                <a:defRPr b="1">
                  <a:solidFill>
                    <a:srgbClr val="FFB800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Output: AI Command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► Severity: HIGH (89% Confidence)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► Road Closure Prob: 76%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► Est. Resolution: 3h 15m</a:t>
              </a: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  <a:p>
              <a:pPr>
                <a:defRPr sz="1400">
                  <a:solidFill>
                    <a:srgbClr val="C8C8C8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► Required: 4 Officers, 1 Crane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extBox 2"/>
          <p:cNvSpPr txBox="1"/>
          <p:nvPr/>
        </p:nvSpPr>
        <p:spPr>
          <a:xfrm>
            <a:off x="502919" y="274319"/>
            <a:ext cx="7818598" cy="840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LIVE PROTOTYPE: COMMAND CENTER</a:t>
            </a:r>
          </a:p>
        </p:txBody>
      </p:sp>
      <p:pic>
        <p:nvPicPr>
          <p:cNvPr id="2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371600"/>
            <a:ext cx="8229600" cy="35160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2"/>
          <p:cNvSpPr txBox="1"/>
          <p:nvPr/>
        </p:nvSpPr>
        <p:spPr>
          <a:xfrm>
            <a:off x="50246" y="132051"/>
            <a:ext cx="4388547" cy="840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TRAFFIC COPILOT</a:t>
            </a:r>
          </a:p>
        </p:txBody>
      </p:sp>
      <p:sp>
        <p:nvSpPr>
          <p:cNvPr id="221" name="TextBox 3"/>
          <p:cNvSpPr txBox="1"/>
          <p:nvPr/>
        </p:nvSpPr>
        <p:spPr>
          <a:xfrm>
            <a:off x="140781" y="1110213"/>
            <a:ext cx="4000541" cy="3424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defRPr b="1" sz="2200">
                <a:solidFill>
                  <a:srgbClr val="00FFA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Natural Language Traffic Intelligence</a:t>
            </a:r>
          </a:p>
          <a:p>
            <a:pPr>
              <a:defRPr b="1" sz="2200">
                <a:solidFill>
                  <a:srgbClr val="00FFA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RAG over 8,173 historical incidents.</a:t>
            </a:r>
          </a:p>
          <a:p>
            <a:pPr>
              <a:defRPr b="1" sz="2200">
                <a:solidFill>
                  <a:srgbClr val="00FFAA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defRPr b="1" sz="2200">
                <a:solidFill>
                  <a:srgbClr val="00FFAA"/>
                </a:solidFill>
                <a:latin typeface="Arial"/>
                <a:ea typeface="Arial"/>
                <a:cs typeface="Arial"/>
                <a:sym typeface="Arial"/>
              </a:defRPr>
            </a:pPr>
            <a:endParaRPr b="0"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“What is the impact of a vehicle breakdown near Bellary Road at 6 PM?”</a:t>
            </a: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“Which corridors are at highest risk today?”</a:t>
            </a:r>
          </a:p>
        </p:txBody>
      </p:sp>
      <p:pic>
        <p:nvPicPr>
          <p:cNvPr id="222" name="Screenshot 2026-06-19 at 10.31.35 AM.png" descr="Screenshot 2026-06-19 at 10.31.3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43516" y="2738058"/>
            <a:ext cx="4187819" cy="243948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Screenshot 2026-06-19 at 10.36.16 AM.png" descr="Screenshot 2026-06-19 at 10.36.16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32170" y="73511"/>
            <a:ext cx="4810510" cy="26636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2"/>
          <p:cNvSpPr txBox="1"/>
          <p:nvPr/>
        </p:nvSpPr>
        <p:spPr>
          <a:xfrm>
            <a:off x="502919" y="274319"/>
            <a:ext cx="4521162" cy="840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REAL-WORLD IMPACT</a:t>
            </a:r>
          </a:p>
        </p:txBody>
      </p:sp>
      <p:graphicFrame>
        <p:nvGraphicFramePr>
          <p:cNvPr id="227" name="Table 3"/>
          <p:cNvGraphicFramePr/>
          <p:nvPr/>
        </p:nvGraphicFramePr>
        <p:xfrm>
          <a:off x="457200" y="1371600"/>
          <a:ext cx="8229600" cy="27432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00CC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BEFORE (Current System)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00CC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AFTER (NammaTraffic)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41C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Reactive Operations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A0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Predictive Intelligence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A0F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Manual Experience-based Planning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A0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Data-Driven Recommendations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A0F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Static Historical Reports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A0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Live Real-Time GIS Intelligence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A0F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Learning Loop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A0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Continuous Institutional Learning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0A0F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3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600" y="457200"/>
            <a:ext cx="1828800" cy="1828800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Box 3"/>
          <p:cNvSpPr txBox="1"/>
          <p:nvPr/>
        </p:nvSpPr>
        <p:spPr>
          <a:xfrm>
            <a:off x="244249" y="2301649"/>
            <a:ext cx="8844916" cy="2369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 algn="ctr">
              <a:defRPr b="1" sz="32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Transforming Bengaluru Traffic Operations from</a:t>
            </a:r>
          </a:p>
          <a:p>
            <a:pPr algn="ctr">
              <a:defRPr b="1" sz="32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Reactive Response to Predictive Intelligence.</a:t>
            </a:r>
          </a:p>
          <a:p>
            <a: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